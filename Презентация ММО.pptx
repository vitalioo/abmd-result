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BC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40200" y="449775"/>
            <a:ext cx="3983700" cy="1593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 дерева решений регрессоров: ключевые аспекты
</a:t>
            </a:r>
            <a:endParaRPr lang="en-US" sz="2600" dirty="0"/>
          </a:p>
        </p:txBody>
      </p:sp>
      <p:sp>
        <p:nvSpPr>
          <p:cNvPr id="5" name="Text 1"/>
          <p:cNvSpPr txBox="1"/>
          <p:nvPr/>
        </p:nvSpPr>
        <p:spPr>
          <a:xfrm>
            <a:off x="340200" y="3118500"/>
            <a:ext cx="3766800" cy="17607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решений регрессор прогнозирует числовые значения, выявляя сложные зависимости в данных.
</a:t>
            </a:r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Авдеев Виталий Сергеевич 25222
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632" y="501325"/>
            <a:ext cx="3754987" cy="4206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ext 0"/>
          <p:cNvSpPr txBox="1"/>
          <p:nvPr/>
        </p:nvSpPr>
        <p:spPr>
          <a:xfrm>
            <a:off x="337925" y="1985375"/>
            <a:ext cx="4234200" cy="1929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Деревья решений начали развиваться с 1986 года с алгоритма CART. Они используются в разных сферах для решения задач регрессии, моделируя числовые зависимости.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решений регрессор прогнозирует числовые значения, выявляя сложные зависимости в данных.
</a:t>
            </a:r>
            <a:endParaRPr lang="en-US" sz="1400" dirty="0"/>
          </a:p>
        </p:txBody>
      </p:sp>
      <p:sp>
        <p:nvSpPr>
          <p:cNvPr id="7" name="Text 1"/>
          <p:cNvSpPr txBox="1"/>
          <p:nvPr/>
        </p:nvSpPr>
        <p:spPr>
          <a:xfrm>
            <a:off x="337925" y="393900"/>
            <a:ext cx="4366200" cy="9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 и значение метода дерева решений
</a:t>
            </a:r>
            <a:endParaRPr lang="en-US" sz="2400" dirty="0"/>
          </a:p>
        </p:txBody>
      </p:sp>
      <p:sp>
        <p:nvSpPr>
          <p:cNvPr id="8" name="Text 2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00" y="953517"/>
            <a:ext cx="4124700" cy="377796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21100" y="393900"/>
            <a:ext cx="83115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391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Структурные компоненты дерева решений регрессора
</a:t>
            </a:r>
            <a:endParaRPr lang="en-US" sz="2391" dirty="0"/>
          </a:p>
        </p:txBody>
      </p:sp>
      <p:sp>
        <p:nvSpPr>
          <p:cNvPr id="5" name="Text 1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45800" y="3070050"/>
            <a:ext cx="3898500" cy="125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дереве решений используются </a:t>
            </a:r>
            <a:pPr algn="l" indent="0" marL="0">
              <a:lnSpc>
                <a:spcPct val="115000"/>
              </a:lnSpc>
              <a:buNone/>
            </a:pPr>
            <a:r>
              <a:rPr lang="en-US" sz="8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простые бинарные вопросы</a:t>
            </a:r>
            <a:pPr algn="l"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вида: </a:t>
            </a:r>
            <a:pPr algn="l"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признак_j ≤ t ?
</a:t>
            </a:r>
            <a:pPr algn="l"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Gосле разбиения:
</a:t>
            </a:r>
            <a:pPr algn="l"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в подмножествах должно быть </a:t>
            </a:r>
            <a:pPr algn="l" indent="0" marL="0">
              <a:lnSpc>
                <a:spcPct val="115000"/>
              </a:lnSpc>
              <a:buNone/>
            </a:pPr>
            <a:r>
              <a:rPr lang="en-US" sz="89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хаоса</a:t>
            </a:r>
            <a:pPr algn="l"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   
</a:t>
            </a:r>
            <a:pPr algn="l" indent="0" marL="0">
              <a:lnSpc>
                <a:spcPct val="115000"/>
              </a:lnSpc>
              <a:buNone/>
            </a:pPr>
            <a:r>
              <a:rPr lang="en-US" sz="8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объекты одного класса должны группироваться вместе. 
</a:t>
            </a:r>
            <a:pPr algn="l" indent="0" marL="0">
              <a:lnSpc>
                <a:spcPct val="115000"/>
              </a:lnSpc>
              <a:buNone/>
            </a:pPr>
            <a:r>
              <a:rPr lang="en-US" sz="5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890" dirty="0"/>
          </a:p>
        </p:txBody>
      </p:sp>
      <p:sp>
        <p:nvSpPr>
          <p:cNvPr id="7" name="Text 3"/>
          <p:cNvSpPr txBox="1"/>
          <p:nvPr/>
        </p:nvSpPr>
        <p:spPr>
          <a:xfrm>
            <a:off x="4545800" y="1262250"/>
            <a:ext cx="3898500" cy="125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элементы дерева
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состоит из корневого узла, внутренних узлов с условиями, ветвей и листьев, где представлены прогнозируемые значения. Каждый узел задаёт условие разделения.
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183700" y="1565975"/>
            <a:ext cx="25170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Определение значения прогноза в листе как среднее арифметическое целевых переменных обучающей выборки, попавшей в этот узел
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418525" y="1565975"/>
            <a:ext cx="23808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признака, обеспечивающего наилучшее разделение данных по выбранному критерию ошибки, например, минимизации MSE.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3338125" y="1565975"/>
            <a:ext cx="2380800" cy="2474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Деление набора данных на подмножества на основе оптимального условия в узле для последующего улучшения прогноза.
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418525" y="393900"/>
            <a:ext cx="8211900" cy="33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построения дерева решений для регрессии
</a:t>
            </a:r>
            <a:endParaRPr lang="en-US" sz="2400" dirty="0"/>
          </a:p>
        </p:txBody>
      </p:sp>
      <p:sp>
        <p:nvSpPr>
          <p:cNvPr id="9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100" y="1784086"/>
            <a:ext cx="4152000" cy="185008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420100" y="4191525"/>
            <a:ext cx="3554700" cy="24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 documentation
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4957350" y="2001700"/>
            <a:ext cx="3696300" cy="17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отражает различия между деревом решений, линейной регрессией и случайным лесом по ключевым параметрам.
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решений выгодно отличается наглядностью, но уступает ансамблям в точности и устойчивости.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420100" y="393900"/>
            <a:ext cx="8493300" cy="77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деревьев решений с альтернативными регрессорами
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800" y="1216545"/>
            <a:ext cx="4392300" cy="3199859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77725" y="1429875"/>
            <a:ext cx="3555600" cy="114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преимущества — простота построения, интуитивная интерпретация и способность работать с данными без предварительной нормализации.
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777725" y="3109275"/>
            <a:ext cx="3555600" cy="114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Среди недостатков — склонность к переобучению, чувствительность к изменению данных и ограниченная способность к обобщению без использования ансамблевых методов.
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38925" y="393900"/>
            <a:ext cx="80916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75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Преимущества и ограничения дерева решений регрессора
</a:t>
            </a:r>
            <a:endParaRPr lang="en-US" sz="2175" dirty="0"/>
          </a:p>
        </p:txBody>
      </p:sp>
      <p:sp>
        <p:nvSpPr>
          <p:cNvPr id="8" name="Text 3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00" y="955450"/>
            <a:ext cx="4124700" cy="37741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21100" y="393900"/>
            <a:ext cx="83115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Борьба с переобучением
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45800" y="3070050"/>
            <a:ext cx="3898500" cy="125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2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Абстрактный аспект 2
</a:t>
            </a:r>
            <a:pPr algn="l" indent="0" marL="0">
              <a:lnSpc>
                <a:spcPct val="115000"/>
              </a:lnSpc>
              <a:buNone/>
            </a:pPr>
            <a:r>
              <a:rPr lang="en-US" sz="6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max_depth:</a:t>
            </a:r>
            <a:pPr algn="l"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Ограничение максимальной глубины дерева.
</a:t>
            </a:r>
            <a:pPr algn="l" indent="0" marL="0">
              <a:lnSpc>
                <a:spcPct val="115000"/>
              </a:lnSpc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min_samples_split:</a:t>
            </a:r>
            <a:pPr algn="l"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Минимальное число образцов для разделения узла.
</a:t>
            </a:r>
            <a:pPr algn="l" indent="0" marL="0">
              <a:lnSpc>
                <a:spcPct val="115000"/>
              </a:lnSpc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min_samples_leaf:</a:t>
            </a:r>
            <a:pPr algn="l"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Минимальное число образцов в листе.
</a:t>
            </a:r>
            <a:pPr algn="l" indent="0" marL="0">
              <a:lnSpc>
                <a:spcPct val="115000"/>
              </a:lnSpc>
              <a:buNone/>
            </a:pPr>
            <a:r>
              <a:rPr lang="en-US" sz="864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max_leaf_nodes:</a:t>
            </a:r>
            <a:pPr algn="l" indent="0" marL="0">
              <a:lnSpc>
                <a:spcPct val="115000"/>
              </a:lnSpc>
              <a:buNone/>
            </a:pPr>
            <a:r>
              <a:rPr lang="en-US" sz="86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Ограничение количества листьев.
</a:t>
            </a:r>
            <a:endParaRPr lang="en-US" sz="1021" dirty="0"/>
          </a:p>
        </p:txBody>
      </p:sp>
      <p:sp>
        <p:nvSpPr>
          <p:cNvPr id="7" name="Text 3"/>
          <p:cNvSpPr txBox="1"/>
          <p:nvPr/>
        </p:nvSpPr>
        <p:spPr>
          <a:xfrm>
            <a:off x="4545800" y="1262250"/>
            <a:ext cx="3898500" cy="125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
</a:t>
            </a:r>
            <a:pPr algn="l" indent="0" marL="0">
              <a:lnSpc>
                <a:spcPct val="115000"/>
              </a:lnSpc>
              <a:buNone/>
            </a:pPr>
            <a:r>
              <a:rPr lang="en-US" sz="75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133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решений легко </a:t>
            </a:r>
            <a:pPr algn="l" indent="0" marL="0">
              <a:lnSpc>
                <a:spcPct val="115000"/>
              </a:lnSpc>
              <a:buNone/>
            </a:pPr>
            <a:r>
              <a:rPr lang="en-US" sz="1039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переобучается</a:t>
            </a:r>
            <a:pPr algn="l" indent="0" marL="0">
              <a:lnSpc>
                <a:spcPct val="115000"/>
              </a:lnSpc>
              <a:buNone/>
            </a:pPr>
            <a:r>
              <a:rPr lang="en-US" sz="1133" dirty="0">
                <a:solidFill>
                  <a:srgbClr val="0F11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запоминая шум в данных вместо общих закономерностей. Глубокое дерево идеально на обучающей выборке, но плохо обобщает новые примеры.
</a:t>
            </a:r>
            <a:endParaRPr lang="en-US" sz="122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12" y="1631450"/>
            <a:ext cx="8261425" cy="31599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630400" y="4791400"/>
            <a:ext cx="589800" cy="30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415925" y="393900"/>
            <a:ext cx="8264400" cy="6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построения и использования регрессионного дерева
</a:t>
            </a:r>
            <a:endParaRPr lang="en-US" sz="2400" dirty="0"/>
          </a:p>
        </p:txBody>
      </p:sp>
      <p:sp>
        <p:nvSpPr>
          <p:cNvPr id="7" name="Text 2"/>
          <p:cNvSpPr txBox="1"/>
          <p:nvPr/>
        </p:nvSpPr>
        <p:spPr>
          <a:xfrm>
            <a:off x="418525" y="1096575"/>
            <a:ext cx="7712700" cy="432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Стандартный процесс построения и тестирования модели дерева решений.
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976" y="952500"/>
            <a:ext cx="4118947" cy="3780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21100" y="393900"/>
            <a:ext cx="83115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Кайфы
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4545800" y="3070050"/>
            <a:ext cx="3898500" cy="125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8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Минусы
</a:t>
            </a:r>
            <a:pPr algn="l" indent="0" marL="0">
              <a:lnSpc>
                <a:spcPct val="115000"/>
              </a:lnSpc>
              <a:buNone/>
            </a:pPr>
            <a:r>
              <a:rPr lang="en-US" sz="7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08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Переобучение:</a:t>
            </a:r>
            <a:pPr algn="l" indent="0" marL="0">
              <a:lnSpc>
                <a:spcPct val="115000"/>
              </a:lnSpc>
              <a:buNone/>
            </a:pPr>
            <a:r>
              <a:rPr lang="en-US" sz="10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Склонно запоминать шум, а не закономерности (высокая дисперсия).
</a:t>
            </a:r>
            <a:pPr algn="l" indent="0" marL="0">
              <a:lnSpc>
                <a:spcPct val="115000"/>
              </a:lnSpc>
              <a:buNone/>
            </a:pPr>
            <a:r>
              <a:rPr lang="en-US" sz="1083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Нестабильность:</a:t>
            </a:r>
            <a:pPr algn="l" indent="0" marL="0">
              <a:lnSpc>
                <a:spcPct val="115000"/>
              </a:lnSpc>
              <a:buNone/>
            </a:pPr>
            <a:r>
              <a:rPr lang="en-US" sz="108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Малое изменение данных может полностью изменить структуру дерева.
</a:t>
            </a:r>
            <a:endParaRPr lang="en-US" sz="1280" dirty="0"/>
          </a:p>
        </p:txBody>
      </p:sp>
      <p:sp>
        <p:nvSpPr>
          <p:cNvPr id="7" name="Text 3"/>
          <p:cNvSpPr txBox="1"/>
          <p:nvPr/>
        </p:nvSpPr>
        <p:spPr>
          <a:xfrm>
            <a:off x="4545800" y="1262250"/>
            <a:ext cx="3898500" cy="125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Плюсы
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Интерпретируемость: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Легко объяснить и визуализировать логику предсказания (как на схеме выше).
</a:t>
            </a:r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требует масштабирования:</a:t>
            </a:r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Работает с сырыми данными без нормализации.
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637250" y="1470975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Прогнозирование цен на недвижимость с учётом множества характеристик объекта и рыночных факторов.
</a:t>
            </a:r>
            <a:endParaRPr lang="en-US" sz="1000" dirty="0"/>
          </a:p>
        </p:txBody>
      </p:sp>
      <p:sp>
        <p:nvSpPr>
          <p:cNvPr id="6" name="Text 1"/>
          <p:cNvSpPr txBox="1"/>
          <p:nvPr/>
        </p:nvSpPr>
        <p:spPr>
          <a:xfrm>
            <a:off x="637250" y="2638079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спроса на товары, позволяющая адаптировать производство и распределение ресурсов в торговле.
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637250" y="3769425"/>
            <a:ext cx="5367000" cy="76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медицинских тестов для прогнозирования результатов и выявления скрытых закономерностей между показателями.
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337925" y="393900"/>
            <a:ext cx="8388900" cy="4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337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Практические применения дерева решений регрессоров
</a:t>
            </a:r>
            <a:endParaRPr lang="en-US" sz="2337" dirty="0"/>
          </a:p>
        </p:txBody>
      </p:sp>
      <p:sp>
        <p:nvSpPr>
          <p:cNvPr id="9" name="Text 4"/>
          <p:cNvSpPr txBox="1"/>
          <p:nvPr/>
        </p:nvSpPr>
        <p:spPr>
          <a:xfrm>
            <a:off x="8630400" y="4791400"/>
            <a:ext cx="589800" cy="37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BC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63300" y="1165200"/>
            <a:ext cx="7374600" cy="28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
</a:t>
            </a:r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 решений регрессор обеспечивает высокую интерпретируемость и не требует масштабирования данных, но при этом склонно к переобучению и нестабильности при малых изменениях входных данных.
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2026-05-20T13:21:54Z</dcterms:created>
  <dcterms:modified xsi:type="dcterms:W3CDTF">2026-05-20T13:21:54Z</dcterms:modified>
</cp:coreProperties>
</file>